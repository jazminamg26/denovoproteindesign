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4" r:id="rId2"/>
    <p:sldId id="256" r:id="rId3"/>
    <p:sldId id="265" r:id="rId4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D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3EA5A6-94B0-4166-9735-24E0CF1D3C18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2E7AAA-B222-4C64-B52C-4E6AA6EF869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89106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E7AAA-B222-4C64-B52C-4E6AA6EF8691}" type="slidenum">
              <a:rPr lang="es-MX" smtClean="0"/>
              <a:t>2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01013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051EC-AEFB-6C81-B914-BFB2D11C2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3BC22B1-2CCF-271D-13F9-FCA45E277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BBFED02-1422-1A7B-85C5-020B0D675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6D9D4F9-898B-E39B-5A12-C3A319DF8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E7AAA-B222-4C64-B52C-4E6AA6EF8691}" type="slidenum">
              <a:rPr lang="es-MX" smtClean="0"/>
              <a:t>3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35257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FF48E2-8882-23B0-A6C2-300FC81EB7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D39319B-6EC9-6502-7BB0-387AC3ABD3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2F32B23-453C-33A0-4AEA-8773E048E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014123C-907E-651D-74A6-F858ABDAD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71266B-E2FD-6C3D-454C-356E771B3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84385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7F0A1-FFD9-7F35-5C35-57D942B25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340DCA2-DEA7-57B7-74AC-9F28723A7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EEDCB5F-66C1-D4BE-AF63-29DBC9FBB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9716D0-B579-849A-8527-2BCCC288F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515678-1794-EBB0-02CB-AE4298095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14853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97B594-EE34-0194-29FA-72CDECCC5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8F1BAD6-0532-98D0-37B5-EEE0BC6DF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2F080AB-ECD4-4BFB-9071-D5021CAA5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B76255-0FF7-78C8-BBB0-5AC696302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1075A0-FD71-1C53-BF44-B5912141C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84340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6E4DB2-2776-C165-A6E5-6D6900C4F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843E140-7C94-18C5-1B23-F9AF244B5E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354A732-A987-7328-7A95-E3EE797C26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A7C3FDD-60BD-D15F-B2D6-5C80C9661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30BFF6F-C4A2-37C6-D1E1-B63E7F52C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2168A65-D407-594F-36A5-82F21ECE3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64874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98BA67-AFE5-F107-0344-69D8DBC8C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4B3EF44-6335-A044-DB6C-CDF6442F03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CDE2121-8BD6-9923-5F78-F5C6DC0C49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6C169DF-FD66-DE29-6CBD-F2A676A4C6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63D67FF-3D7E-FD69-3DD3-19D796E29F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AF7444E-C33E-9B4C-ECD8-C834AC61F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B6173EA-0FF0-E0A3-B0F3-34E90560C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CD97A89-5ED6-BAE1-8EC4-4B04AE46F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50121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CA76F9-1504-47BF-EEFF-A44F4C1FB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27130C6-D7F6-7E28-AAD3-E012A8BBC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89F3AD3-6236-0950-6D54-2A79ED792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F0F1AD5-371F-03A5-42CE-3F014B6D9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30832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DD79C29-C1E9-B3FF-012A-5E6EC1B8C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4B373B2-D3E4-5D1C-616E-422BCDDDB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B95BE8-F531-8095-D0AB-691604DA9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99700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DCC593-90FD-5393-4526-CF32389DD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9A11F38-EB55-AAB6-9643-5A8AFD3AA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BB9CFCF-7A62-BD53-4906-F4C2369F0D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D541805-580C-FD34-70A1-7B5E82261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9548DC5-3A1F-73B3-7FDB-48C68346C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4E985C-3577-1C22-1E83-2FF323606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98147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2235D9-9721-34C4-4E1E-6479EC150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D6608AD-B78D-1761-698F-C0B1B489B0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1E1B966-9327-6F1E-7AFE-552DA64D20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76EFDC-D753-9E4D-30A9-D74455EE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C79CC7D-D0FB-6E80-7ED7-A5CD32E64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6BBFBD8-6934-D680-D8C0-FAB2AFFC0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46015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8557C5-16F3-1A21-9D2A-5EE3D22C0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7E6E638-A492-6859-6DEC-3E135C81D1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180DEED-2FD8-8D0B-C020-1F42F1460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EF7E29-07E7-7E19-38AD-373F9038A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CD277B-EEFC-1DEF-BA27-C2A4D99F7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00276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E45328D-DC7F-0129-72EB-76CE59A11F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0D1AA46-AA5D-1392-84ED-335CA63481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8F25B0E-D63D-935D-58EB-F6FA7C6BD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7C30E4-6FC4-0CC8-2C24-8109B71A8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68D3C3-8331-6FF4-4861-CA3C48138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57102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49A8917-6504-C0E6-90B8-738095A25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029D9C3-5771-F058-4FD0-FF1E87A89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A7676AC-12E7-08AD-3CB8-B640381FF7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0B0DEB-6357-4AA7-B044-02FE390C03FA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470BB44-9734-D4D2-ED0D-971704D35E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7D98BA-FFBE-D87E-20E1-1E4F7417DE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3CCCC1-200E-4332-AB0D-C40C271BEE4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1917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AC0F4C29-6647-3D50-727C-F112FE55309F}"/>
              </a:ext>
            </a:extLst>
          </p:cNvPr>
          <p:cNvSpPr/>
          <p:nvPr/>
        </p:nvSpPr>
        <p:spPr>
          <a:xfrm>
            <a:off x="5861304" y="1191953"/>
            <a:ext cx="5725235" cy="5062543"/>
          </a:xfrm>
          <a:prstGeom prst="rect">
            <a:avLst/>
          </a:prstGeom>
          <a:solidFill>
            <a:srgbClr val="92D050">
              <a:alpha val="30196"/>
            </a:srgb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3F2B39D-3F57-64D2-A235-E3E7AE06969A}"/>
              </a:ext>
            </a:extLst>
          </p:cNvPr>
          <p:cNvSpPr txBox="1"/>
          <p:nvPr/>
        </p:nvSpPr>
        <p:spPr>
          <a:xfrm>
            <a:off x="2324564" y="450442"/>
            <a:ext cx="68063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Functions</a:t>
            </a:r>
            <a:endParaRPr lang="es-MX" sz="2400" b="1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E6E37BD-CB08-69DB-67E2-C594E1E3C882}"/>
              </a:ext>
            </a:extLst>
          </p:cNvPr>
          <p:cNvSpPr txBox="1"/>
          <p:nvPr/>
        </p:nvSpPr>
        <p:spPr>
          <a:xfrm>
            <a:off x="605461" y="1191953"/>
            <a:ext cx="4509572" cy="26025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spcAft>
                <a:spcPts val="80"/>
              </a:spcAft>
            </a:pPr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A function in programming is a block of code that performs a specific task and can be reused whenever needed. </a:t>
            </a:r>
          </a:p>
          <a:p>
            <a:pPr algn="just">
              <a:spcAft>
                <a:spcPts val="80"/>
              </a:spcAft>
            </a:pPr>
            <a:endParaRPr lang="en-US" sz="14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  <a:p>
            <a:pPr algn="just">
              <a:lnSpc>
                <a:spcPct val="150000"/>
              </a:lnSpc>
              <a:spcAft>
                <a:spcPts val="80"/>
              </a:spcAft>
            </a:pPr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Think of a function as a machine:</a:t>
            </a:r>
          </a:p>
          <a:p>
            <a:pPr marL="171450" indent="-171450" algn="just">
              <a:lnSpc>
                <a:spcPct val="150000"/>
              </a:lnSpc>
              <a:spcAft>
                <a:spcPts val="8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It can receive input </a:t>
            </a:r>
          </a:p>
          <a:p>
            <a:pPr marL="171450" indent="-171450" algn="just">
              <a:lnSpc>
                <a:spcPct val="150000"/>
              </a:lnSpc>
              <a:spcAft>
                <a:spcPts val="8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It performs an action</a:t>
            </a:r>
          </a:p>
          <a:p>
            <a:pPr marL="171450" indent="-171450" algn="just">
              <a:lnSpc>
                <a:spcPct val="150000"/>
              </a:lnSpc>
              <a:spcAft>
                <a:spcPts val="8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It can return a result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DDE6213-E4BC-BC29-D804-86A8717201D9}"/>
              </a:ext>
            </a:extLst>
          </p:cNvPr>
          <p:cNvSpPr txBox="1"/>
          <p:nvPr/>
        </p:nvSpPr>
        <p:spPr>
          <a:xfrm>
            <a:off x="5993055" y="1368752"/>
            <a:ext cx="52997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Example</a:t>
            </a: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</a:p>
          <a:p>
            <a:pPr algn="just"/>
            <a:endParaRPr lang="en-US" sz="12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  <a:p>
            <a:pPr algn="just"/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Imagine you're a biologist who often needs to count cells in a sample.</a:t>
            </a:r>
          </a:p>
          <a:p>
            <a:pPr algn="just"/>
            <a:endParaRPr lang="en-US" sz="14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  <a:p>
            <a:pPr algn="just"/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Instead of writing the same calculation over and over, you can create a function: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43834C1-443B-5DDF-6188-EFBAE6659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130" y="3946301"/>
            <a:ext cx="2498412" cy="2800057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05EE8F19-78B8-2E42-DC0C-83D3F8753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721" y="3429000"/>
            <a:ext cx="4344399" cy="18832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2614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4CBB277D-6B54-20D5-7D8E-F96CA6E8B279}"/>
              </a:ext>
            </a:extLst>
          </p:cNvPr>
          <p:cNvSpPr txBox="1"/>
          <p:nvPr/>
        </p:nvSpPr>
        <p:spPr>
          <a:xfrm>
            <a:off x="2425147" y="321830"/>
            <a:ext cx="68063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Classes</a:t>
            </a:r>
            <a:r>
              <a:rPr lang="es-MX" sz="24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and </a:t>
            </a:r>
            <a:r>
              <a:rPr lang="es-MX" sz="2400" b="1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Objects</a:t>
            </a:r>
            <a:endParaRPr lang="es-MX" sz="2400" b="1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C623420-9D0B-D458-B966-8F2EC817063D}"/>
              </a:ext>
            </a:extLst>
          </p:cNvPr>
          <p:cNvSpPr txBox="1"/>
          <p:nvPr/>
        </p:nvSpPr>
        <p:spPr>
          <a:xfrm>
            <a:off x="406962" y="901097"/>
            <a:ext cx="6101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Class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5F7BDFD-AAB4-ECDA-29E0-161EEE457CD6}"/>
              </a:ext>
            </a:extLst>
          </p:cNvPr>
          <p:cNvSpPr txBox="1"/>
          <p:nvPr/>
        </p:nvSpPr>
        <p:spPr>
          <a:xfrm>
            <a:off x="464936" y="1232861"/>
            <a:ext cx="5453148" cy="1353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It’s like the theoretical description of a species in a field guide. It dictates the characteristics and behaviors that this type of organism has. However, the description itself is not alive; it’s just a blueprint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87B8886-47C7-6B07-CC2F-9140596679FC}"/>
              </a:ext>
            </a:extLst>
          </p:cNvPr>
          <p:cNvSpPr txBox="1"/>
          <p:nvPr/>
        </p:nvSpPr>
        <p:spPr>
          <a:xfrm>
            <a:off x="6922673" y="942759"/>
            <a:ext cx="4617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Object</a:t>
            </a:r>
            <a:endParaRPr lang="es-MX" b="1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835623C-6F15-550A-5C58-1BB93E7F69B5}"/>
              </a:ext>
            </a:extLst>
          </p:cNvPr>
          <p:cNvSpPr txBox="1"/>
          <p:nvPr/>
        </p:nvSpPr>
        <p:spPr>
          <a:xfrm>
            <a:off x="6922672" y="1312091"/>
            <a:ext cx="4617583" cy="1030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A concrete realization created from the class. It contains actual values assigned to the blueprint's requirements</a:t>
            </a:r>
            <a:endParaRPr lang="es-MX" sz="14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12324373-802E-BFC0-960B-7A9432BFD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11" y="4789223"/>
            <a:ext cx="5986018" cy="1620117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CB82BC3-0B02-79D1-1EA4-1FF603C20D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6026" y="4824906"/>
            <a:ext cx="4617584" cy="1711264"/>
          </a:xfrm>
          <a:prstGeom prst="rect">
            <a:avLst/>
          </a:prstGeom>
        </p:spPr>
      </p:pic>
      <p:pic>
        <p:nvPicPr>
          <p:cNvPr id="30" name="Imagen 29">
            <a:extLst>
              <a:ext uri="{FF2B5EF4-FFF2-40B4-BE49-F238E27FC236}">
                <a16:creationId xmlns:a16="http://schemas.microsoft.com/office/drawing/2014/main" id="{256E03A7-1B10-A6F1-455C-217A08CF6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743" y="2799262"/>
            <a:ext cx="1582658" cy="1620117"/>
          </a:xfrm>
          <a:prstGeom prst="rect">
            <a:avLst/>
          </a:prstGeom>
        </p:spPr>
      </p:pic>
      <p:pic>
        <p:nvPicPr>
          <p:cNvPr id="32" name="Imagen 31">
            <a:extLst>
              <a:ext uri="{FF2B5EF4-FFF2-40B4-BE49-F238E27FC236}">
                <a16:creationId xmlns:a16="http://schemas.microsoft.com/office/drawing/2014/main" id="{B481FF3E-F962-0D10-D53D-A05C2FCE24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8675" y="2788476"/>
            <a:ext cx="1848528" cy="1281047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3D10A75F-3CB9-9E9E-997D-E72F4FB2FA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0881" y="2838559"/>
            <a:ext cx="1286310" cy="1433134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0893D4E6-EA97-A549-2AFC-C30724A79E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8121" y="2647384"/>
            <a:ext cx="2646683" cy="177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745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424D9-2E7E-17A3-8F6A-657C578BA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D11E044D-6F11-0423-D0E8-D76E16AB7023}"/>
              </a:ext>
            </a:extLst>
          </p:cNvPr>
          <p:cNvSpPr/>
          <p:nvPr/>
        </p:nvSpPr>
        <p:spPr>
          <a:xfrm>
            <a:off x="7479792" y="4542738"/>
            <a:ext cx="3730752" cy="1993432"/>
          </a:xfrm>
          <a:prstGeom prst="rect">
            <a:avLst/>
          </a:prstGeom>
          <a:solidFill>
            <a:srgbClr val="92D050">
              <a:alpha val="30196"/>
            </a:srgb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D88FEDB-53B5-9951-10F8-E3DDDD6DE734}"/>
              </a:ext>
            </a:extLst>
          </p:cNvPr>
          <p:cNvSpPr txBox="1"/>
          <p:nvPr/>
        </p:nvSpPr>
        <p:spPr>
          <a:xfrm>
            <a:off x="2425147" y="321830"/>
            <a:ext cx="68063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Libraries</a:t>
            </a:r>
            <a:r>
              <a:rPr lang="es-MX" sz="24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61BA1C9-D147-1426-9CC8-E3953D8C9CCD}"/>
              </a:ext>
            </a:extLst>
          </p:cNvPr>
          <p:cNvSpPr txBox="1"/>
          <p:nvPr/>
        </p:nvSpPr>
        <p:spPr>
          <a:xfrm>
            <a:off x="988685" y="1194704"/>
            <a:ext cx="5453148" cy="1030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A programming library is a collection of pre-written, reusable code that developers use to perform specific tasks without building features from scratch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57500C7-81CA-2B8A-19B8-A8A0A0A63C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098" y="2636196"/>
            <a:ext cx="2481366" cy="1338904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507B3595-2D42-0434-B08D-077BF5C179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6633" y="2363821"/>
            <a:ext cx="2465938" cy="175265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8A4B3E5C-A078-4772-13BF-C42F381FB1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483" y="4480936"/>
            <a:ext cx="3080444" cy="2055234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77268038-4A97-1A70-ECB5-D8F8E041F7B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037" y="1290429"/>
            <a:ext cx="3683506" cy="2440323"/>
          </a:xfrm>
          <a:prstGeom prst="rect">
            <a:avLst/>
          </a:prstGeom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0A8CFF98-C32B-7FAA-8AC4-188B77429072}"/>
              </a:ext>
            </a:extLst>
          </p:cNvPr>
          <p:cNvSpPr txBox="1"/>
          <p:nvPr/>
        </p:nvSpPr>
        <p:spPr>
          <a:xfrm>
            <a:off x="7479793" y="4623404"/>
            <a:ext cx="3730752" cy="1676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Install (you only need to do it once)</a:t>
            </a:r>
          </a:p>
          <a:p>
            <a:pPr algn="ctr">
              <a:lnSpc>
                <a:spcPct val="150000"/>
              </a:lnSpc>
            </a:pPr>
            <a:r>
              <a:rPr lang="en-US" sz="1400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Pip install library-name</a:t>
            </a:r>
          </a:p>
          <a:p>
            <a:pPr algn="ctr">
              <a:lnSpc>
                <a:spcPct val="150000"/>
              </a:lnSpc>
            </a:pPr>
            <a:endParaRPr lang="en-US" sz="14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US" sz="14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Import (once per code)</a:t>
            </a:r>
          </a:p>
          <a:p>
            <a:pPr algn="ctr">
              <a:lnSpc>
                <a:spcPct val="150000"/>
              </a:lnSpc>
            </a:pPr>
            <a:r>
              <a:rPr lang="en-US" sz="1400" dirty="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rPr>
              <a:t>Pip import library-name</a:t>
            </a:r>
          </a:p>
        </p:txBody>
      </p:sp>
    </p:spTree>
    <p:extLst>
      <p:ext uri="{BB962C8B-B14F-4D97-AF65-F5344CB8AC3E}">
        <p14:creationId xmlns:p14="http://schemas.microsoft.com/office/powerpoint/2010/main" val="16434396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1798</TotalTime>
  <Words>183</Words>
  <Application>Microsoft Office PowerPoint</Application>
  <PresentationFormat>Panorámica</PresentationFormat>
  <Paragraphs>26</Paragraphs>
  <Slides>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9" baseType="lpstr">
      <vt:lpstr>Microsoft GothicNeo</vt:lpstr>
      <vt:lpstr>Aptos</vt:lpstr>
      <vt:lpstr>Aptos Display</vt:lpstr>
      <vt:lpstr>Arial</vt:lpstr>
      <vt:lpstr>Google Sans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Jazmín Jones</dc:creator>
  <cp:lastModifiedBy>Jazmín Jones</cp:lastModifiedBy>
  <cp:revision>11</cp:revision>
  <dcterms:created xsi:type="dcterms:W3CDTF">2026-06-19T17:01:08Z</dcterms:created>
  <dcterms:modified xsi:type="dcterms:W3CDTF">2026-06-21T02:30:17Z</dcterms:modified>
</cp:coreProperties>
</file>